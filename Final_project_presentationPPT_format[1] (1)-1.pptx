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19"/>
  </p:notesMasterIdLst>
  <p:handoutMasterIdLst>
    <p:handoutMasterId r:id="rId20"/>
  </p:handoutMasterIdLst>
  <p:sldIdLst>
    <p:sldId id="380" r:id="rId3"/>
    <p:sldId id="257" r:id="rId4"/>
    <p:sldId id="403" r:id="rId5"/>
    <p:sldId id="369" r:id="rId6"/>
    <p:sldId id="381" r:id="rId7"/>
    <p:sldId id="396" r:id="rId8"/>
    <p:sldId id="397" r:id="rId9"/>
    <p:sldId id="398" r:id="rId10"/>
    <p:sldId id="382" r:id="rId11"/>
    <p:sldId id="399" r:id="rId12"/>
    <p:sldId id="400" r:id="rId13"/>
    <p:sldId id="389" r:id="rId14"/>
    <p:sldId id="393" r:id="rId15"/>
    <p:sldId id="394" r:id="rId16"/>
    <p:sldId id="395"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9" autoAdjust="0"/>
    <p:restoredTop sz="94660"/>
  </p:normalViewPr>
  <p:slideViewPr>
    <p:cSldViewPr snapToGrid="0">
      <p:cViewPr varScale="1">
        <p:scale>
          <a:sx n="82" d="100"/>
          <a:sy n="82" d="100"/>
        </p:scale>
        <p:origin x="73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3/6/2025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3/6/2025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3B117F1E-8D7B-CF0F-795D-A27D3F3554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C815128-27CD-4A1C-B65C-CCD5989A55F3}" type="slidenum">
              <a:rPr lang="en-US" altLang="en-US" sz="1200"/>
              <a:pPr/>
              <a:t>4</a:t>
            </a:fld>
            <a:endParaRPr lang="en-US" altLang="en-US" sz="1200"/>
          </a:p>
        </p:txBody>
      </p:sp>
      <p:sp>
        <p:nvSpPr>
          <p:cNvPr id="47107" name="Rectangle 2">
            <a:extLst>
              <a:ext uri="{FF2B5EF4-FFF2-40B4-BE49-F238E27FC236}">
                <a16:creationId xmlns:a16="http://schemas.microsoft.com/office/drawing/2014/main" id="{75589A03-F76A-FC4A-4BFC-B3E97354A046}"/>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0EB6EB6B-7B82-54B1-8453-BDD2EC3AFE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Gary</a:t>
            </a:r>
          </a:p>
          <a:p>
            <a:pPr eaLnBrk="1" hangingPunct="1"/>
            <a:r>
              <a:rPr lang="en-US" altLang="en-US">
                <a:latin typeface="Arial" panose="020B0604020202020204" pitchFamily="34" charset="0"/>
                <a:ea typeface="ＭＳ Ｐゴシック" panose="020B0600070205080204" pitchFamily="34" charset="-128"/>
              </a:rPr>
              <a:t>Watch what people do with your site/application, not what they say about a design.</a:t>
            </a:r>
          </a:p>
        </p:txBody>
      </p:sp>
    </p:spTree>
    <p:extLst>
      <p:ext uri="{BB962C8B-B14F-4D97-AF65-F5344CB8AC3E}">
        <p14:creationId xmlns:p14="http://schemas.microsoft.com/office/powerpoint/2010/main" val="893213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3B117F1E-8D7B-CF0F-795D-A27D3F3554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C815128-27CD-4A1C-B65C-CCD5989A55F3}" type="slidenum">
              <a:rPr lang="en-US" altLang="en-US" sz="1200"/>
              <a:pPr/>
              <a:t>5</a:t>
            </a:fld>
            <a:endParaRPr lang="en-US" altLang="en-US" sz="1200"/>
          </a:p>
        </p:txBody>
      </p:sp>
      <p:sp>
        <p:nvSpPr>
          <p:cNvPr id="47107" name="Rectangle 2">
            <a:extLst>
              <a:ext uri="{FF2B5EF4-FFF2-40B4-BE49-F238E27FC236}">
                <a16:creationId xmlns:a16="http://schemas.microsoft.com/office/drawing/2014/main" id="{75589A03-F76A-FC4A-4BFC-B3E97354A046}"/>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0EB6EB6B-7B82-54B1-8453-BDD2EC3AFE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Gary</a:t>
            </a:r>
          </a:p>
          <a:p>
            <a:pPr eaLnBrk="1" hangingPunct="1"/>
            <a:r>
              <a:rPr lang="en-US" altLang="en-US">
                <a:latin typeface="Arial" panose="020B0604020202020204" pitchFamily="34" charset="0"/>
                <a:ea typeface="ＭＳ Ｐゴシック" panose="020B0600070205080204" pitchFamily="34" charset="-128"/>
              </a:rPr>
              <a:t>Watch what people do with your site/application, not what they say about a design.</a:t>
            </a:r>
          </a:p>
        </p:txBody>
      </p:sp>
    </p:spTree>
    <p:extLst>
      <p:ext uri="{BB962C8B-B14F-4D97-AF65-F5344CB8AC3E}">
        <p14:creationId xmlns:p14="http://schemas.microsoft.com/office/powerpoint/2010/main" val="1557125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3B117F1E-8D7B-CF0F-795D-A27D3F3554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fld id="{4C815128-27CD-4A1C-B65C-CCD5989A55F3}" type="slidenum">
              <a:rPr lang="en-US" altLang="en-US" sz="1200"/>
              <a:pPr/>
              <a:t>9</a:t>
            </a:fld>
            <a:endParaRPr lang="en-US" altLang="en-US" sz="1200"/>
          </a:p>
        </p:txBody>
      </p:sp>
      <p:sp>
        <p:nvSpPr>
          <p:cNvPr id="47107" name="Rectangle 2">
            <a:extLst>
              <a:ext uri="{FF2B5EF4-FFF2-40B4-BE49-F238E27FC236}">
                <a16:creationId xmlns:a16="http://schemas.microsoft.com/office/drawing/2014/main" id="{75589A03-F76A-FC4A-4BFC-B3E97354A046}"/>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0EB6EB6B-7B82-54B1-8453-BDD2EC3AFE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ea typeface="ＭＳ Ｐゴシック" panose="020B0600070205080204" pitchFamily="34" charset="-128"/>
              </a:rPr>
              <a:t>Gary</a:t>
            </a:r>
          </a:p>
          <a:p>
            <a:pPr eaLnBrk="1" hangingPunct="1"/>
            <a:r>
              <a:rPr lang="en-US" altLang="en-US">
                <a:latin typeface="Arial" panose="020B0604020202020204" pitchFamily="34" charset="0"/>
                <a:ea typeface="ＭＳ Ｐゴシック" panose="020B0600070205080204" pitchFamily="34" charset="-128"/>
              </a:rPr>
              <a:t>Watch what people do with your site/application, not what they say about a design.</a:t>
            </a:r>
          </a:p>
        </p:txBody>
      </p:sp>
    </p:spTree>
    <p:extLst>
      <p:ext uri="{BB962C8B-B14F-4D97-AF65-F5344CB8AC3E}">
        <p14:creationId xmlns:p14="http://schemas.microsoft.com/office/powerpoint/2010/main" val="729768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3/6/2025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www.who.int/publications/i/item/9789240029200"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878132" y="3165272"/>
            <a:ext cx="4063558" cy="2062101"/>
          </a:xfrm>
          <a:prstGeom prst="rect">
            <a:avLst/>
          </a:prstGeom>
        </p:spPr>
        <p:txBody>
          <a:bodyPr wrap="square" lIns="91438" tIns="45719" rIns="91438" bIns="45719">
            <a:spAutoFit/>
          </a:bodyPr>
          <a:lstStyle/>
          <a:p>
            <a:pPr algn="ctr">
              <a:defRPr/>
            </a:pPr>
            <a:r>
              <a:rPr lang="en-US" sz="2000" b="1" dirty="0">
                <a:solidFill>
                  <a:schemeClr val="tx1">
                    <a:lumMod val="95000"/>
                    <a:lumOff val="5000"/>
                  </a:schemeClr>
                </a:solidFill>
                <a:latin typeface="Times New Roman" pitchFamily="18" charset="0"/>
                <a:ea typeface="新細明體"/>
                <a:cs typeface="Times New Roman" pitchFamily="18" charset="0"/>
              </a:rPr>
              <a:t>Presented B</a:t>
            </a:r>
            <a:r>
              <a:rPr lang="en-US" sz="1600" b="1" dirty="0">
                <a:solidFill>
                  <a:schemeClr val="tx1">
                    <a:lumMod val="95000"/>
                    <a:lumOff val="5000"/>
                  </a:schemeClr>
                </a:solidFill>
                <a:latin typeface="Times New Roman" pitchFamily="18" charset="0"/>
                <a:ea typeface="新細明體"/>
                <a:cs typeface="Times New Roman" pitchFamily="18" charset="0"/>
              </a:rPr>
              <a:t>Y</a:t>
            </a:r>
            <a:r>
              <a:rPr lang="en-US" sz="1200" b="1" dirty="0">
                <a:solidFill>
                  <a:schemeClr val="tx1">
                    <a:lumMod val="95000"/>
                    <a:lumOff val="5000"/>
                  </a:schemeClr>
                </a:solidFill>
                <a:latin typeface="Times New Roman" pitchFamily="18" charset="0"/>
                <a:ea typeface="新細明體"/>
                <a:cs typeface="Times New Roman" pitchFamily="18" charset="0"/>
              </a:rPr>
              <a:t> </a:t>
            </a:r>
            <a:r>
              <a:rPr lang="en-US" sz="2000" b="1" dirty="0">
                <a:solidFill>
                  <a:schemeClr val="tx1">
                    <a:lumMod val="95000"/>
                    <a:lumOff val="5000"/>
                  </a:schemeClr>
                </a:solidFill>
                <a:latin typeface="Times New Roman" pitchFamily="18" charset="0"/>
                <a:ea typeface="新細明體"/>
                <a:cs typeface="Times New Roman" pitchFamily="18" charset="0"/>
              </a:rPr>
              <a:t>:</a:t>
            </a:r>
          </a:p>
          <a:p>
            <a:pPr algn="ctr">
              <a:defRPr/>
            </a:pPr>
            <a:r>
              <a:rPr lang="en-US" dirty="0">
                <a:solidFill>
                  <a:schemeClr val="tx1">
                    <a:lumMod val="95000"/>
                    <a:lumOff val="5000"/>
                  </a:schemeClr>
                </a:solidFill>
                <a:latin typeface="Times New Roman" pitchFamily="18" charset="0"/>
                <a:ea typeface="新細明體"/>
                <a:cs typeface="Times New Roman" pitchFamily="18" charset="0"/>
              </a:rPr>
              <a:t>SACHIN SHARMA(24BCS12941)</a:t>
            </a:r>
          </a:p>
          <a:p>
            <a:pPr algn="ctr">
              <a:defRPr/>
            </a:pPr>
            <a:r>
              <a:rPr lang="en-US" dirty="0">
                <a:solidFill>
                  <a:schemeClr val="tx1">
                    <a:lumMod val="95000"/>
                    <a:lumOff val="5000"/>
                  </a:schemeClr>
                </a:solidFill>
                <a:latin typeface="Times New Roman" pitchFamily="18" charset="0"/>
                <a:ea typeface="新細明體"/>
                <a:cs typeface="Times New Roman" pitchFamily="18" charset="0"/>
              </a:rPr>
              <a:t>SAHIL(24BCS12586)</a:t>
            </a:r>
          </a:p>
          <a:p>
            <a:pPr algn="ctr">
              <a:defRPr/>
            </a:pPr>
            <a:r>
              <a:rPr lang="en-US" dirty="0">
                <a:solidFill>
                  <a:schemeClr val="tx1">
                    <a:lumMod val="95000"/>
                    <a:lumOff val="5000"/>
                  </a:schemeClr>
                </a:solidFill>
                <a:latin typeface="Times New Roman" pitchFamily="18" charset="0"/>
                <a:ea typeface="新細明體"/>
                <a:cs typeface="Times New Roman" pitchFamily="18" charset="0"/>
              </a:rPr>
              <a:t>CHIRAG BHARDWAJ(24BCS12585)</a:t>
            </a:r>
          </a:p>
          <a:p>
            <a:pPr algn="ctr">
              <a:defRPr/>
            </a:pPr>
            <a:r>
              <a:rPr lang="en-US" dirty="0">
                <a:solidFill>
                  <a:schemeClr val="tx1">
                    <a:lumMod val="95000"/>
                    <a:lumOff val="5000"/>
                  </a:schemeClr>
                </a:solidFill>
                <a:latin typeface="Times New Roman" pitchFamily="18" charset="0"/>
                <a:ea typeface="新細明體"/>
                <a:cs typeface="Times New Roman" pitchFamily="18" charset="0"/>
              </a:rPr>
              <a:t>ARPIT(24BCS12917)</a:t>
            </a:r>
          </a:p>
          <a:p>
            <a:pPr algn="ctr">
              <a:defRPr/>
            </a:pPr>
            <a:r>
              <a:rPr lang="en-US" dirty="0">
                <a:solidFill>
                  <a:schemeClr val="tx1">
                    <a:lumMod val="95000"/>
                    <a:lumOff val="5000"/>
                  </a:schemeClr>
                </a:solidFill>
                <a:latin typeface="Times New Roman" pitchFamily="18" charset="0"/>
                <a:ea typeface="新細明體"/>
                <a:cs typeface="Times New Roman" pitchFamily="18" charset="0"/>
              </a:rPr>
              <a:t>NIKSHAY(24BCS12920)</a:t>
            </a:r>
          </a:p>
          <a:p>
            <a:pPr algn="ctr">
              <a:defRPr/>
            </a:pPr>
            <a:endParaRPr lang="en-US" dirty="0">
              <a:solidFill>
                <a:schemeClr val="tx1">
                  <a:lumMod val="95000"/>
                  <a:lumOff val="5000"/>
                </a:schemeClr>
              </a:solidFill>
              <a:latin typeface="Times New Roman" pitchFamily="18" charset="0"/>
              <a:ea typeface="新細明體"/>
              <a:cs typeface="Times New Roman" pitchFamily="18" charset="0"/>
            </a:endParaRPr>
          </a:p>
        </p:txBody>
      </p:sp>
      <p:sp>
        <p:nvSpPr>
          <p:cNvPr id="6" name="Rectangle 5"/>
          <p:cNvSpPr/>
          <p:nvPr/>
        </p:nvSpPr>
        <p:spPr>
          <a:xfrm>
            <a:off x="153857" y="3534290"/>
            <a:ext cx="3505200" cy="1477325"/>
          </a:xfrm>
          <a:prstGeom prst="rect">
            <a:avLst/>
          </a:prstGeom>
        </p:spPr>
        <p:txBody>
          <a:bodyPr wrap="square" lIns="91438" tIns="45719" rIns="91438" bIns="45719">
            <a:spAutoFit/>
          </a:bodyPr>
          <a:lstStyle/>
          <a:p>
            <a:pPr algn="ctr">
              <a:defRPr/>
            </a:pPr>
            <a:endParaRPr lang="en-US" b="1" dirty="0">
              <a:latin typeface="Times New Roman" pitchFamily="18" charset="0"/>
              <a:cs typeface="Times New Roman" pitchFamily="18" charset="0"/>
            </a:endParaRPr>
          </a:p>
          <a:p>
            <a:pPr>
              <a:defRPr/>
            </a:pPr>
            <a:endParaRPr lang="en-US" b="1" dirty="0">
              <a:latin typeface="Times New Roman" pitchFamily="18" charset="0"/>
              <a:cs typeface="Times New Roman" pitchFamily="18" charset="0"/>
            </a:endParaRPr>
          </a:p>
          <a:p>
            <a:pPr>
              <a:defRPr/>
            </a:pPr>
            <a:endParaRPr lang="en-US" b="1" dirty="0">
              <a:latin typeface="Times New Roman" pitchFamily="18" charset="0"/>
              <a:cs typeface="Times New Roman" pitchFamily="18" charset="0"/>
            </a:endParaRPr>
          </a:p>
          <a:p>
            <a:pPr>
              <a:defRPr/>
            </a:pPr>
            <a:endParaRPr lang="en-US" b="1" dirty="0">
              <a:latin typeface="Times New Roman" pitchFamily="18" charset="0"/>
              <a:cs typeface="Times New Roman" pitchFamily="18" charset="0"/>
            </a:endParaRPr>
          </a:p>
          <a:p>
            <a:pPr algn="ctr">
              <a:defRPr/>
            </a:pPr>
            <a:endParaRPr lang="en-IN" sz="1600" dirty="0"/>
          </a:p>
        </p:txBody>
      </p:sp>
      <p:sp>
        <p:nvSpPr>
          <p:cNvPr id="7" name="Rectangle 6">
            <a:extLst>
              <a:ext uri="{FF2B5EF4-FFF2-40B4-BE49-F238E27FC236}">
                <a16:creationId xmlns:a16="http://schemas.microsoft.com/office/drawing/2014/main" id="{7659DBDC-C18B-40F1-85C7-220CEE671877}"/>
              </a:ext>
            </a:extLst>
          </p:cNvPr>
          <p:cNvSpPr/>
          <p:nvPr/>
        </p:nvSpPr>
        <p:spPr>
          <a:xfrm>
            <a:off x="6152572" y="6052164"/>
            <a:ext cx="184731" cy="338554"/>
          </a:xfrm>
          <a:prstGeom prst="rect">
            <a:avLst/>
          </a:prstGeom>
        </p:spPr>
        <p:txBody>
          <a:bodyPr wrap="none">
            <a:spAutoFit/>
          </a:bodyPr>
          <a:lstStyle/>
          <a:p>
            <a:pPr algn="ctr"/>
            <a:endParaRPr lang="en-US" sz="16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85F1368-428E-4F8B-86E7-2E6E1327E8F9}"/>
              </a:ext>
            </a:extLst>
          </p:cNvPr>
          <p:cNvSpPr txBox="1"/>
          <p:nvPr/>
        </p:nvSpPr>
        <p:spPr>
          <a:xfrm>
            <a:off x="1139687" y="262681"/>
            <a:ext cx="9819861" cy="1446550"/>
          </a:xfrm>
          <a:prstGeom prst="rect">
            <a:avLst/>
          </a:prstGeom>
          <a:noFill/>
        </p:spPr>
        <p:txBody>
          <a:bodyPr wrap="square" rtlCol="0">
            <a:spAutoFit/>
          </a:bodyPr>
          <a:lstStyle/>
          <a:p>
            <a:pPr algn="ctr"/>
            <a:r>
              <a:rPr lang="en-IN" sz="3200" b="1" dirty="0">
                <a:effectLst/>
                <a:latin typeface="Times New Roman" panose="02020603050405020304" pitchFamily="18" charset="0"/>
                <a:ea typeface="Calibri" panose="020F0502020204030204" pitchFamily="34" charset="0"/>
                <a:cs typeface="Times New Roman" panose="02020603050405020304" pitchFamily="18" charset="0"/>
              </a:rPr>
              <a:t>"</a:t>
            </a:r>
            <a:r>
              <a:rPr lang="en-IN" sz="32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Intelligent Healthcare Chatbot for Symptom Analysis and Preliminary Diagnosis"</a:t>
            </a:r>
          </a:p>
          <a:p>
            <a:pPr algn="ctr"/>
            <a:endParaRPr lang="en-IN" sz="2400" dirty="0">
              <a:effectLst>
                <a:outerShdw blurRad="38100" dist="38100" dir="2700000" algn="tl">
                  <a:srgbClr val="000000">
                    <a:alpha val="43137"/>
                  </a:srgbClr>
                </a:outerShdw>
              </a:effectLst>
            </a:endParaRPr>
          </a:p>
        </p:txBody>
      </p:sp>
      <p:pic>
        <p:nvPicPr>
          <p:cNvPr id="8" name="Picture 7">
            <a:extLst>
              <a:ext uri="{FF2B5EF4-FFF2-40B4-BE49-F238E27FC236}">
                <a16:creationId xmlns:a16="http://schemas.microsoft.com/office/drawing/2014/main" id="{D085FCBE-A1EA-06E5-10B4-9ACC5B90AE9C}"/>
              </a:ext>
            </a:extLst>
          </p:cNvPr>
          <p:cNvPicPr>
            <a:picLocks noChangeAspect="1"/>
          </p:cNvPicPr>
          <p:nvPr/>
        </p:nvPicPr>
        <p:blipFill>
          <a:blip r:embed="rId2" cstate="print">
            <a:extLst>
              <a:ext uri="{BEBA8EAE-BF5A-486C-A8C5-ECC9F3942E4B}">
                <a14:imgProps xmlns:a14="http://schemas.microsoft.com/office/drawing/2010/main">
                  <a14:imgLayer r:embed="rId3">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4018377" y="2519427"/>
            <a:ext cx="3859753" cy="1538254"/>
          </a:xfrm>
          <a:prstGeom prst="rect">
            <a:avLst/>
          </a:prstGeom>
        </p:spPr>
      </p:pic>
    </p:spTree>
    <p:extLst>
      <p:ext uri="{BB962C8B-B14F-4D97-AF65-F5344CB8AC3E}">
        <p14:creationId xmlns:p14="http://schemas.microsoft.com/office/powerpoint/2010/main" val="296310122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6073" y="512546"/>
            <a:ext cx="8229600" cy="792162"/>
          </a:xfrm>
        </p:spPr>
        <p:txBody>
          <a:bodyPr>
            <a:normAutofit/>
          </a:bodyPr>
          <a:lstStyle/>
          <a:p>
            <a:r>
              <a:rPr lang="en-US" sz="3600" dirty="0">
                <a:latin typeface="Times New Roman" pitchFamily="18" charset="0"/>
                <a:cs typeface="Times New Roman" pitchFamily="18" charset="0"/>
              </a:rPr>
              <a:t>Outlines</a:t>
            </a:r>
          </a:p>
        </p:txBody>
      </p:sp>
      <p:sp>
        <p:nvSpPr>
          <p:cNvPr id="4" name="Slide Number Placeholder 2">
            <a:extLst>
              <a:ext uri="{FF2B5EF4-FFF2-40B4-BE49-F238E27FC236}">
                <a16:creationId xmlns:a16="http://schemas.microsoft.com/office/drawing/2014/main" id="{B8192E4A-E230-4D5A-A049-697A409B97D6}"/>
              </a:ext>
            </a:extLst>
          </p:cNvPr>
          <p:cNvSpPr>
            <a:spLocks noGrp="1"/>
          </p:cNvSpPr>
          <p:nvPr>
            <p:ph type="sldNum" sz="quarter" idx="12"/>
          </p:nvPr>
        </p:nvSpPr>
        <p:spPr>
          <a:xfrm>
            <a:off x="8077200" y="6356351"/>
            <a:ext cx="2133600" cy="365125"/>
          </a:xfrm>
        </p:spPr>
        <p:txBody>
          <a:bodyPr/>
          <a:lstStyle/>
          <a:p>
            <a:fld id="{B6F15528-21DE-4FAA-801E-634DDDAF4B2B}" type="slidenum">
              <a:rPr lang="en-US" smtClean="0"/>
              <a:pPr/>
              <a:t>2</a:t>
            </a:fld>
            <a:endParaRPr lang="en-US"/>
          </a:p>
        </p:txBody>
      </p:sp>
      <p:graphicFrame>
        <p:nvGraphicFramePr>
          <p:cNvPr id="12" name="Content Placeholder 11">
            <a:extLst>
              <a:ext uri="{FF2B5EF4-FFF2-40B4-BE49-F238E27FC236}">
                <a16:creationId xmlns:a16="http://schemas.microsoft.com/office/drawing/2014/main" id="{23EB36BF-01CB-72A8-AE88-9CB1D124BEE4}"/>
              </a:ext>
            </a:extLst>
          </p:cNvPr>
          <p:cNvGraphicFramePr>
            <a:graphicFrameLocks noGrp="1"/>
          </p:cNvGraphicFramePr>
          <p:nvPr>
            <p:ph idx="1"/>
            <p:extLst>
              <p:ext uri="{D42A27DB-BD31-4B8C-83A1-F6EECF244321}">
                <p14:modId xmlns:p14="http://schemas.microsoft.com/office/powerpoint/2010/main" val="3507405305"/>
              </p:ext>
            </p:extLst>
          </p:nvPr>
        </p:nvGraphicFramePr>
        <p:xfrm>
          <a:off x="129310" y="1304708"/>
          <a:ext cx="11342254" cy="5318601"/>
        </p:xfrm>
        <a:graphic>
          <a:graphicData uri="http://schemas.openxmlformats.org/drawingml/2006/table">
            <a:tbl>
              <a:tblPr firstRow="1" bandRow="1">
                <a:tableStyleId>{5C22544A-7EE6-4342-B048-85BDC9FD1C3A}</a:tableStyleId>
              </a:tblPr>
              <a:tblGrid>
                <a:gridCol w="1763306">
                  <a:extLst>
                    <a:ext uri="{9D8B030D-6E8A-4147-A177-3AD203B41FA5}">
                      <a16:colId xmlns:a16="http://schemas.microsoft.com/office/drawing/2014/main" val="1738771358"/>
                    </a:ext>
                  </a:extLst>
                </a:gridCol>
                <a:gridCol w="9578948">
                  <a:extLst>
                    <a:ext uri="{9D8B030D-6E8A-4147-A177-3AD203B41FA5}">
                      <a16:colId xmlns:a16="http://schemas.microsoft.com/office/drawing/2014/main" val="398185494"/>
                    </a:ext>
                  </a:extLst>
                </a:gridCol>
              </a:tblGrid>
              <a:tr h="680610">
                <a:tc>
                  <a:txBody>
                    <a:bodyPr/>
                    <a:lstStyle/>
                    <a:p>
                      <a:pPr algn="ctr"/>
                      <a:r>
                        <a:rPr lang="en-US" sz="2800" dirty="0">
                          <a:solidFill>
                            <a:sysClr val="windowText" lastClr="000000"/>
                          </a:solidFill>
                          <a:latin typeface="Times New Roman" panose="02020603050405020304" pitchFamily="18" charset="0"/>
                          <a:cs typeface="Times New Roman" panose="02020603050405020304" pitchFamily="18" charset="0"/>
                        </a:rPr>
                        <a:t>S. No.</a:t>
                      </a:r>
                      <a:endParaRPr lang="en-IN" sz="28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2800" dirty="0">
                          <a:solidFill>
                            <a:sysClr val="windowText" lastClr="000000"/>
                          </a:solidFill>
                          <a:latin typeface="Times New Roman" panose="02020603050405020304" pitchFamily="18" charset="0"/>
                          <a:cs typeface="Times New Roman" panose="02020603050405020304" pitchFamily="18" charset="0"/>
                        </a:rPr>
                        <a:t>Content</a:t>
                      </a:r>
                      <a:endParaRPr lang="en-IN" sz="280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37683490"/>
                  </a:ext>
                </a:extLst>
              </a:tr>
              <a:tr h="591627">
                <a:tc>
                  <a:txBody>
                    <a:bodyPr/>
                    <a:lstStyle/>
                    <a:p>
                      <a:pPr algn="ct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Introduction and Literature review</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4108069"/>
                  </a:ext>
                </a:extLst>
              </a:tr>
              <a:tr h="680610">
                <a:tc>
                  <a:txBody>
                    <a:bodyPr/>
                    <a:lstStyle/>
                    <a:p>
                      <a:pPr algn="ct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Problem definition and objectives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3690991"/>
                  </a:ext>
                </a:extLst>
              </a:tr>
              <a:tr h="680610">
                <a:tc>
                  <a:txBody>
                    <a:bodyPr/>
                    <a:lstStyle/>
                    <a:p>
                      <a:pPr algn="ct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Scope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5890563"/>
                  </a:ext>
                </a:extLst>
              </a:tr>
              <a:tr h="671286">
                <a:tc>
                  <a:txBody>
                    <a:bodyPr/>
                    <a:lstStyle/>
                    <a:p>
                      <a:pPr algn="ct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4</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3363035"/>
                  </a:ext>
                </a:extLst>
              </a:tr>
              <a:tr h="671286">
                <a:tc>
                  <a:txBody>
                    <a:bodyPr/>
                    <a:lstStyle/>
                    <a:p>
                      <a:pPr algn="ct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5</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Results and Discussions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671286">
                <a:tc>
                  <a:txBody>
                    <a:bodyPr/>
                    <a:lstStyle/>
                    <a:p>
                      <a:pPr algn="ct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6</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Conclusion and Future Scope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671286">
                <a:tc>
                  <a:txBody>
                    <a:bodyPr/>
                    <a:lstStyle/>
                    <a:p>
                      <a:pPr algn="ct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7</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nSpc>
                          <a:spcPct val="100000"/>
                        </a:lnSpc>
                        <a:spcAft>
                          <a:spcPts val="0"/>
                        </a:spcAf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References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cxnSp>
        <p:nvCxnSpPr>
          <p:cNvPr id="14" name="Straight Connector 13">
            <a:extLst>
              <a:ext uri="{FF2B5EF4-FFF2-40B4-BE49-F238E27FC236}">
                <a16:creationId xmlns:a16="http://schemas.microsoft.com/office/drawing/2014/main" id="{9B662375-0841-1DBD-CA8C-2C752A2A7ECA}"/>
              </a:ext>
            </a:extLst>
          </p:cNvPr>
          <p:cNvCxnSpPr>
            <a:cxnSpLocks/>
          </p:cNvCxnSpPr>
          <p:nvPr/>
        </p:nvCxnSpPr>
        <p:spPr>
          <a:xfrm>
            <a:off x="1227281" y="1194852"/>
            <a:ext cx="8983519" cy="0"/>
          </a:xfrm>
          <a:prstGeom prst="line">
            <a:avLst/>
          </a:prstGeom>
          <a:ln w="76200">
            <a:solidFill>
              <a:schemeClr val="tx1"/>
            </a:solidFill>
          </a:ln>
          <a:effectLst>
            <a:outerShdw blurRad="50800" dist="38100" dir="2700000" algn="tl" rotWithShape="0">
              <a:prstClr val="black">
                <a:alpha val="40000"/>
              </a:prstClr>
            </a:outerShdw>
          </a:effectLst>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0170245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pic>
        <p:nvPicPr>
          <p:cNvPr id="13314" name="Picture 2" descr="Some Medical Chatbot Projects created by Students/Researcher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2001"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312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29F6290B-006D-3636-9A30-52B68ADFEE81}"/>
              </a:ext>
            </a:extLst>
          </p:cNvPr>
          <p:cNvSpPr txBox="1">
            <a:spLocks/>
          </p:cNvSpPr>
          <p:nvPr/>
        </p:nvSpPr>
        <p:spPr>
          <a:xfrm>
            <a:off x="1066800" y="355600"/>
            <a:ext cx="10744200" cy="785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4400" dirty="0">
                <a:latin typeface="Times New Roman" panose="02020603050405020304" pitchFamily="18" charset="0"/>
                <a:ea typeface="Calibri" panose="020F0502020204030204" pitchFamily="34" charset="0"/>
                <a:cs typeface="Times New Roman" panose="02020603050405020304" pitchFamily="18" charset="0"/>
              </a:rPr>
              <a:t>Introduction and Literature review</a:t>
            </a:r>
          </a:p>
          <a:p>
            <a:pPr marL="0" indent="0">
              <a:buNone/>
            </a:pPr>
            <a:endParaRPr lang="en-IN" sz="3200" b="1" dirty="0">
              <a:solidFill>
                <a:sysClr val="windowText" lastClr="000000"/>
              </a:solidFill>
              <a:latin typeface="Times New Roman" panose="02020603050405020304" pitchFamily="18" charset="0"/>
              <a:cs typeface="Times New Roman" panose="02020603050405020304" pitchFamily="18" charset="0"/>
            </a:endParaRPr>
          </a:p>
          <a:p>
            <a:pPr marL="0" indent="0">
              <a:buNone/>
            </a:pPr>
            <a:endParaRPr lang="en-IN" sz="3200" b="1" strike="sngStrike" dirty="0">
              <a:highlight>
                <a:srgbClr val="FFFF00"/>
              </a:highlight>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B3C3E0A-C889-96CE-36AD-D70552005C65}"/>
              </a:ext>
            </a:extLst>
          </p:cNvPr>
          <p:cNvSpPr>
            <a:spLocks noGrp="1"/>
          </p:cNvSpPr>
          <p:nvPr>
            <p:ph idx="1"/>
          </p:nvPr>
        </p:nvSpPr>
        <p:spPr>
          <a:xfrm>
            <a:off x="838200" y="1825625"/>
            <a:ext cx="7219122" cy="4351338"/>
          </a:xfrm>
        </p:spPr>
        <p:txBody>
          <a:bodyPr>
            <a:normAutofit lnSpcReduction="10000"/>
          </a:bodyPr>
          <a:lstStyle/>
          <a:p>
            <a:pPr marL="457200"/>
            <a:r>
              <a:rPr lang="en-IN" sz="2200" dirty="0">
                <a:effectLst/>
                <a:latin typeface="Times New Roman" panose="02020603050405020304" pitchFamily="18" charset="0"/>
                <a:ea typeface="Times New Roman" panose="02020603050405020304" pitchFamily="18" charset="0"/>
              </a:rPr>
              <a:t>Healthcare chatbots have emerged as a promising technology to support patients by providing quick, accessible, and intelligent assistance. Leveraging artificial intelligence (AI) and natural language processing (NLP), healthcare chatbots can guide users through initial symptom analysis, offer insights into possible diagnoses, and suggest further actions, such as visiting a healthcare provider or managing symptoms at home.  </a:t>
            </a:r>
          </a:p>
          <a:p>
            <a:pPr marL="457200"/>
            <a:r>
              <a:rPr lang="en-IN" sz="2200" dirty="0">
                <a:effectLst/>
                <a:latin typeface="Times New Roman" panose="02020603050405020304" pitchFamily="18" charset="0"/>
                <a:ea typeface="Times New Roman" panose="02020603050405020304" pitchFamily="18" charset="0"/>
              </a:rPr>
              <a:t>The objective of an intelligent healthcare chatbot is to improve patient outcomes by enabling timely symptom analysis and preliminary diagnosis. Such chatbots can assist patients by interpreting symptoms, providing health education, offering lifestyle advice, and reducing unnecessary clinical visits.  </a:t>
            </a:r>
            <a:endParaRPr lang="en-IN" sz="1800" dirty="0">
              <a:effectLst/>
              <a:latin typeface="Times New Roman" panose="02020603050405020304" pitchFamily="18" charset="0"/>
              <a:ea typeface="Times New Roman" panose="02020603050405020304" pitchFamily="18" charset="0"/>
            </a:endParaRPr>
          </a:p>
          <a:p>
            <a:endParaRPr lang="en-IN" dirty="0">
              <a:highlight>
                <a:srgbClr val="FFFF00"/>
              </a:highlight>
              <a:latin typeface="Times New Roman" panose="02020603050405020304" pitchFamily="18" charset="0"/>
              <a:cs typeface="Times New Roman" panose="02020603050405020304" pitchFamily="18" charset="0"/>
            </a:endParaRPr>
          </a:p>
        </p:txBody>
      </p:sp>
      <p:pic>
        <p:nvPicPr>
          <p:cNvPr id="1026" name="Picture 2" descr="1,300+ Chatbot Medical Stock Photos, Pictures &amp; Royalty-Fre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7322" y="1537252"/>
            <a:ext cx="3533223" cy="3940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720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29F6290B-006D-3636-9A30-52B68ADFEE81}"/>
              </a:ext>
            </a:extLst>
          </p:cNvPr>
          <p:cNvSpPr txBox="1">
            <a:spLocks/>
          </p:cNvSpPr>
          <p:nvPr/>
        </p:nvSpPr>
        <p:spPr>
          <a:xfrm>
            <a:off x="1066800" y="355600"/>
            <a:ext cx="10744200" cy="785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4400" dirty="0">
                <a:latin typeface="Times New Roman" panose="02020603050405020304" pitchFamily="18" charset="0"/>
                <a:ea typeface="Calibri" panose="020F0502020204030204" pitchFamily="34" charset="0"/>
                <a:cs typeface="Times New Roman" panose="02020603050405020304" pitchFamily="18" charset="0"/>
              </a:rPr>
              <a:t>Problem</a:t>
            </a:r>
            <a:r>
              <a:rPr lang="en-IN" sz="3200" kern="1200" dirty="0">
                <a:solidFill>
                  <a:schemeClr val="dk1"/>
                </a:solidFill>
                <a:effectLst/>
                <a:latin typeface="Times New Roman" panose="02020603050405020304" pitchFamily="18" charset="0"/>
                <a:ea typeface="+mn-ea"/>
                <a:cs typeface="Times New Roman" panose="02020603050405020304" pitchFamily="18" charset="0"/>
              </a:rPr>
              <a:t> </a:t>
            </a:r>
            <a:r>
              <a:rPr lang="en-IN" sz="4400" dirty="0">
                <a:latin typeface="Times New Roman" panose="02020603050405020304" pitchFamily="18" charset="0"/>
                <a:ea typeface="Calibri" panose="020F0502020204030204" pitchFamily="34" charset="0"/>
                <a:cs typeface="Times New Roman" panose="02020603050405020304" pitchFamily="18" charset="0"/>
              </a:rPr>
              <a:t>Definition and Objective</a:t>
            </a:r>
          </a:p>
          <a:p>
            <a:pPr marL="0" indent="0">
              <a:buNone/>
            </a:pPr>
            <a:endParaRPr lang="en-IN" sz="3200" b="1" strike="sngStrike" dirty="0">
              <a:highlight>
                <a:srgbClr val="FFFF00"/>
              </a:highlight>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B3C3E0A-C889-96CE-36AD-D70552005C65}"/>
              </a:ext>
            </a:extLst>
          </p:cNvPr>
          <p:cNvSpPr>
            <a:spLocks noGrp="1"/>
          </p:cNvSpPr>
          <p:nvPr>
            <p:ph idx="1"/>
          </p:nvPr>
        </p:nvSpPr>
        <p:spPr>
          <a:xfrm>
            <a:off x="838200" y="1140691"/>
            <a:ext cx="5708374" cy="5036272"/>
          </a:xfrm>
        </p:spPr>
        <p:txBody>
          <a:bodyPr>
            <a:noAutofit/>
          </a:bodyPr>
          <a:lstStyle/>
          <a:p>
            <a:r>
              <a:rPr lang="en-IN" sz="2200" dirty="0">
                <a:effectLst/>
                <a:latin typeface="Times New Roman" panose="02020603050405020304" pitchFamily="18" charset="0"/>
                <a:ea typeface="Times New Roman" panose="02020603050405020304" pitchFamily="18" charset="0"/>
              </a:rPr>
              <a:t>In many parts of the world, access to timely healthcare remains a challenge due to resource limitations, high demand, and logistical constraints. Long wait times for non-urgent medical consultations, lack of immediate access to healthcare professionals, and the inconvenience of scheduling appointments deter many individuals from seeking timely medical advice .</a:t>
            </a:r>
          </a:p>
          <a:p>
            <a:r>
              <a:rPr lang="en-IN" sz="2200" dirty="0">
                <a:effectLst/>
                <a:latin typeface="Times New Roman" panose="02020603050405020304" pitchFamily="18" charset="0"/>
                <a:ea typeface="Times New Roman" panose="02020603050405020304" pitchFamily="18" charset="0"/>
              </a:rPr>
              <a:t>An intelligent healthcare chatbot for symptom analysis and preliminary diagnosis can address this issue by providing immediate, accessible, and reliable symptom evaluation. Such a chatbot could offer an initial assessment, directing users toward the appropriate level of care and providing information on potential conditions.  </a:t>
            </a:r>
          </a:p>
          <a:p>
            <a:endParaRPr lang="en-IN" sz="2200" dirty="0">
              <a:highlight>
                <a:srgbClr val="FFFF00"/>
              </a:highlight>
              <a:latin typeface="Times New Roman" panose="02020603050405020304" pitchFamily="18" charset="0"/>
              <a:cs typeface="Times New Roman" panose="02020603050405020304" pitchFamily="18" charset="0"/>
            </a:endParaRPr>
          </a:p>
        </p:txBody>
      </p:sp>
      <p:pic>
        <p:nvPicPr>
          <p:cNvPr id="4098" name="Picture 2" descr="Some Medical Chatbot Projects created by Students/Research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2149" y="1232022"/>
            <a:ext cx="4403173" cy="4853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029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82049E-558E-49EF-922E-819C6084B7A5}"/>
              </a:ext>
            </a:extLst>
          </p:cNvPr>
          <p:cNvSpPr>
            <a:spLocks noGrp="1"/>
          </p:cNvSpPr>
          <p:nvPr>
            <p:ph idx="1"/>
          </p:nvPr>
        </p:nvSpPr>
        <p:spPr>
          <a:xfrm>
            <a:off x="798444" y="627752"/>
            <a:ext cx="6715539" cy="5568536"/>
          </a:xfrm>
        </p:spPr>
        <p:txBody>
          <a:bodyPr>
            <a:noAutofit/>
          </a:bodyPr>
          <a:lstStyle/>
          <a:p>
            <a:pPr>
              <a:lnSpc>
                <a:spcPct val="115000"/>
              </a:lnSpc>
              <a:spcAft>
                <a:spcPts val="1000"/>
              </a:spcAft>
            </a:pPr>
            <a:r>
              <a:rPr lang="en-IN" sz="4000" b="1" dirty="0">
                <a:effectLst/>
                <a:latin typeface="Times New Roman" panose="02020603050405020304" pitchFamily="18" charset="0"/>
                <a:ea typeface="Times New Roman" panose="02020603050405020304" pitchFamily="18" charset="0"/>
                <a:cs typeface="Times New Roman" panose="02020603050405020304" pitchFamily="18" charset="0"/>
              </a:rPr>
              <a:t>Literature Review</a:t>
            </a:r>
            <a:endParaRPr lang="en-IN" sz="4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1. Evolution and Current Use of Healthcare Chatbots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Healthcare chatbots have developed rapidly in recent years, driven by advances in AI and an increased demand for telehealth services. Initial chatbot applications were primarily rule-based, responding to predefined questions with scripted answers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2. The Role of NLP in Symptom Analysis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Natural Language Processing is essential in enabling chatbots to understand and process user input accurately. NLP techniques enable chatbots to interpret user queries, extract symptoms, and understand medical terminology. Studies have highlighted the significance of NLP algorithms, such as named entity recognition (NER), sentiment analysis, and semantic analysis, in enhancing chatbot accuracy.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1200" dirty="0">
                <a:effectLst/>
                <a:latin typeface="Times New Roman" panose="02020603050405020304" pitchFamily="18" charset="0"/>
                <a:ea typeface="Times New Roman" panose="02020603050405020304" pitchFamily="18" charset="0"/>
              </a:rPr>
              <a:t> </a:t>
            </a:r>
          </a:p>
          <a:p>
            <a:endParaRPr lang="en-IN" sz="1200" dirty="0"/>
          </a:p>
        </p:txBody>
      </p:sp>
      <p:sp>
        <p:nvSpPr>
          <p:cNvPr id="4" name="Slide Number Placeholder 3">
            <a:extLst>
              <a:ext uri="{FF2B5EF4-FFF2-40B4-BE49-F238E27FC236}">
                <a16:creationId xmlns:a16="http://schemas.microsoft.com/office/drawing/2014/main" id="{8044D037-914C-4B43-BE95-77088EA0DE0F}"/>
              </a:ext>
            </a:extLst>
          </p:cNvPr>
          <p:cNvSpPr>
            <a:spLocks noGrp="1"/>
          </p:cNvSpPr>
          <p:nvPr>
            <p:ph type="sldNum" sz="quarter" idx="12"/>
          </p:nvPr>
        </p:nvSpPr>
        <p:spPr/>
        <p:txBody>
          <a:bodyPr/>
          <a:lstStyle/>
          <a:p>
            <a:fld id="{BDCDBBEF-AA6C-4BA6-85B2-A17D7F280E38}" type="slidenum">
              <a:rPr lang="en-US" smtClean="0"/>
              <a:pPr/>
              <a:t>6</a:t>
            </a:fld>
            <a:endParaRPr lang="en-US"/>
          </a:p>
        </p:txBody>
      </p:sp>
      <p:pic>
        <p:nvPicPr>
          <p:cNvPr id="2050" name="Picture 2" descr="Healthcare Chatbot Images - Free Download on Freepi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3983" y="627752"/>
            <a:ext cx="4289424" cy="5728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212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A30D07B-7607-411F-B33B-0A3D75B5080F}"/>
              </a:ext>
            </a:extLst>
          </p:cNvPr>
          <p:cNvSpPr>
            <a:spLocks noGrp="1"/>
          </p:cNvSpPr>
          <p:nvPr>
            <p:ph type="sldNum" sz="quarter" idx="12"/>
          </p:nvPr>
        </p:nvSpPr>
        <p:spPr/>
        <p:txBody>
          <a:bodyPr/>
          <a:lstStyle/>
          <a:p>
            <a:fld id="{BDCDBBEF-AA6C-4BA6-85B2-A17D7F280E38}" type="slidenum">
              <a:rPr lang="en-US" smtClean="0"/>
              <a:pPr/>
              <a:t>7</a:t>
            </a:fld>
            <a:endParaRPr lang="en-US"/>
          </a:p>
        </p:txBody>
      </p:sp>
      <p:sp>
        <p:nvSpPr>
          <p:cNvPr id="5" name="Title 1">
            <a:extLst>
              <a:ext uri="{FF2B5EF4-FFF2-40B4-BE49-F238E27FC236}">
                <a16:creationId xmlns:a16="http://schemas.microsoft.com/office/drawing/2014/main" id="{6D81B053-D66F-46BF-B157-3B833E5E9676}"/>
              </a:ext>
            </a:extLst>
          </p:cNvPr>
          <p:cNvSpPr>
            <a:spLocks noGrp="1"/>
          </p:cNvSpPr>
          <p:nvPr>
            <p:ph idx="1"/>
          </p:nvPr>
        </p:nvSpPr>
        <p:spPr>
          <a:xfrm>
            <a:off x="838200" y="557212"/>
            <a:ext cx="6317974" cy="6300787"/>
          </a:xfrm>
        </p:spPr>
        <p:txBody>
          <a:bodyPr>
            <a:normAutofit fontScale="70000" lnSpcReduction="20000"/>
          </a:bodyPr>
          <a:lstStyle/>
          <a:p>
            <a:pPr marL="0" indent="0">
              <a:lnSpc>
                <a:spcPct val="115000"/>
              </a:lnSpc>
              <a:spcAft>
                <a:spcPts val="1000"/>
              </a:spcAft>
              <a:buNone/>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3. </a:t>
            </a:r>
            <a:r>
              <a:rPr lang="en-IN" sz="2900" b="1" dirty="0">
                <a:effectLst/>
                <a:latin typeface="Times New Roman" panose="02020603050405020304" pitchFamily="18" charset="0"/>
                <a:ea typeface="Times New Roman" panose="02020603050405020304" pitchFamily="18" charset="0"/>
                <a:cs typeface="Times New Roman" panose="02020603050405020304" pitchFamily="18" charset="0"/>
              </a:rPr>
              <a:t>Machine Learning and Preliminary Diagnosis</a:t>
            </a:r>
            <a:endParaRPr lang="en-IN" sz="29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IN" sz="2900" dirty="0">
                <a:effectLst/>
                <a:latin typeface="Times New Roman" panose="02020603050405020304" pitchFamily="18" charset="0"/>
                <a:ea typeface="Times New Roman" panose="02020603050405020304" pitchFamily="18" charset="0"/>
                <a:cs typeface="Times New Roman" panose="02020603050405020304" pitchFamily="18" charset="0"/>
              </a:rPr>
              <a:t>Machine learning algorithms are the backbone of preliminary diagnosis capabilities in intelligent healthcare chatbots. By training on large datasets of patient symptoms, conditions, and diagnoses, ML models can recognize patterns that correlate with specific medical conditions. Recent studies have examined the use of supervised learning techniques, such as decision trees, support vector machines, and neural networks, to enhance diagnostic accuracy.  </a:t>
            </a:r>
            <a:endParaRPr lang="en-IN" sz="29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2900" b="1" dirty="0">
                <a:effectLst/>
                <a:latin typeface="Times New Roman" panose="02020603050405020304" pitchFamily="18" charset="0"/>
                <a:ea typeface="Times New Roman" panose="02020603050405020304" pitchFamily="18" charset="0"/>
                <a:cs typeface="Times New Roman" panose="02020603050405020304" pitchFamily="18" charset="0"/>
              </a:rPr>
              <a:t>4. Limitations and Ethical Considerations</a:t>
            </a:r>
            <a:endParaRPr lang="en-IN" sz="29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IN" sz="2900" dirty="0">
                <a:effectLst/>
                <a:latin typeface="Times New Roman" panose="02020603050405020304" pitchFamily="18" charset="0"/>
                <a:ea typeface="Times New Roman" panose="02020603050405020304" pitchFamily="18" charset="0"/>
                <a:cs typeface="Times New Roman" panose="02020603050405020304" pitchFamily="18" charset="0"/>
              </a:rPr>
              <a:t>While healthcare chatbots offer significant benefits, several limitations and ethical considerations exist. Research underscores concerns about the accuracy and reliability of chatbot diagnoses, as incorrect symptom interpretation could lead to inappropriate recommendations </a:t>
            </a:r>
            <a:endParaRPr lang="en-IN" sz="29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pic>
        <p:nvPicPr>
          <p:cNvPr id="3074" name="Picture 2" descr="Benefits of Chatbots in Healthcare: 9 Use Cases of Healthcare Chatbots -  Inbent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6503" y="1126434"/>
            <a:ext cx="4094923" cy="4195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07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000"/>
                                        <p:tgtEl>
                                          <p:spTgt spid="3074"/>
                                        </p:tgtEl>
                                      </p:cBhvr>
                                    </p:animEffect>
                                    <p:anim calcmode="lin" valueType="num">
                                      <p:cBhvr>
                                        <p:cTn id="8" dur="1000" fill="hold"/>
                                        <p:tgtEl>
                                          <p:spTgt spid="3074"/>
                                        </p:tgtEl>
                                        <p:attrNameLst>
                                          <p:attrName>ppt_x</p:attrName>
                                        </p:attrNameLst>
                                      </p:cBhvr>
                                      <p:tavLst>
                                        <p:tav tm="0">
                                          <p:val>
                                            <p:strVal val="#ppt_x"/>
                                          </p:val>
                                        </p:tav>
                                        <p:tav tm="100000">
                                          <p:val>
                                            <p:strVal val="#ppt_x"/>
                                          </p:val>
                                        </p:tav>
                                      </p:tavLst>
                                    </p:anim>
                                    <p:anim calcmode="lin" valueType="num">
                                      <p:cBhvr>
                                        <p:cTn id="9"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989E15-AB45-4F5E-BC28-AFFA02B2F2C0}"/>
              </a:ext>
            </a:extLst>
          </p:cNvPr>
          <p:cNvSpPr>
            <a:spLocks noGrp="1"/>
          </p:cNvSpPr>
          <p:nvPr>
            <p:ph idx="1"/>
          </p:nvPr>
        </p:nvSpPr>
        <p:spPr>
          <a:xfrm>
            <a:off x="838200" y="530087"/>
            <a:ext cx="6331226" cy="5646876"/>
          </a:xfrm>
        </p:spPr>
        <p:txBody>
          <a:bodyPr>
            <a:normAutofit fontScale="77500" lnSpcReduction="20000"/>
          </a:bodyPr>
          <a:lstStyle/>
          <a:p>
            <a:r>
              <a:rPr lang="en-IN" sz="2200" b="1" dirty="0">
                <a:effectLst/>
                <a:latin typeface="Times New Roman" panose="02020603050405020304" pitchFamily="18" charset="0"/>
                <a:ea typeface="Times New Roman" panose="02020603050405020304" pitchFamily="18" charset="0"/>
              </a:rPr>
              <a:t>Objective</a:t>
            </a:r>
          </a:p>
          <a:p>
            <a:r>
              <a:rPr lang="en-IN" sz="2200" dirty="0">
                <a:effectLst/>
                <a:latin typeface="Times New Roman" panose="02020603050405020304" pitchFamily="18" charset="0"/>
                <a:ea typeface="Times New Roman" panose="02020603050405020304" pitchFamily="18" charset="0"/>
              </a:rPr>
              <a:t>The objective of developing an intelligent healthcare chatbot for symptom analysis and preliminary diagnosis is to:</a:t>
            </a:r>
          </a:p>
          <a:p>
            <a:pPr marL="342900" lvl="0" indent="-342900">
              <a:buFont typeface="+mj-lt"/>
              <a:buAutoNum type="arabicPeriod"/>
              <a:tabLst>
                <a:tab pos="457200" algn="l"/>
              </a:tabLst>
            </a:pPr>
            <a:r>
              <a:rPr lang="en-IN" sz="2200" b="1" dirty="0">
                <a:effectLst/>
                <a:latin typeface="Times New Roman" panose="02020603050405020304" pitchFamily="18" charset="0"/>
                <a:ea typeface="Times New Roman" panose="02020603050405020304" pitchFamily="18" charset="0"/>
              </a:rPr>
              <a:t>Provide Accessible, On-Demand Healthcare Information</a:t>
            </a:r>
            <a:r>
              <a:rPr lang="en-IN" sz="2200" dirty="0">
                <a:effectLst/>
                <a:latin typeface="Times New Roman" panose="02020603050405020304" pitchFamily="18" charset="0"/>
                <a:ea typeface="Times New Roman" panose="02020603050405020304" pitchFamily="18" charset="0"/>
              </a:rPr>
              <a:t>: Enable users to input their symptoms and receive personalized responses, allowing them to access healthcare information at any time.</a:t>
            </a:r>
          </a:p>
          <a:p>
            <a:pPr marL="342900" lvl="0" indent="-342900">
              <a:buFont typeface="+mj-lt"/>
              <a:buAutoNum type="arabicPeriod"/>
              <a:tabLst>
                <a:tab pos="457200" algn="l"/>
              </a:tabLst>
            </a:pPr>
            <a:r>
              <a:rPr lang="en-IN" sz="2200" b="1" dirty="0">
                <a:effectLst/>
                <a:latin typeface="Times New Roman" panose="02020603050405020304" pitchFamily="18" charset="0"/>
                <a:ea typeface="Times New Roman" panose="02020603050405020304" pitchFamily="18" charset="0"/>
              </a:rPr>
              <a:t>Offer Preliminary Symptom Analysis</a:t>
            </a:r>
            <a:r>
              <a:rPr lang="en-IN" sz="2200" dirty="0">
                <a:effectLst/>
                <a:latin typeface="Times New Roman" panose="02020603050405020304" pitchFamily="18" charset="0"/>
                <a:ea typeface="Times New Roman" panose="02020603050405020304" pitchFamily="18" charset="0"/>
              </a:rPr>
              <a:t>: Use AI-driven algorithms to </a:t>
            </a:r>
            <a:r>
              <a:rPr lang="en-IN" sz="2200" dirty="0" err="1">
                <a:effectLst/>
                <a:latin typeface="Times New Roman" panose="02020603050405020304" pitchFamily="18" charset="0"/>
                <a:ea typeface="Times New Roman" panose="02020603050405020304" pitchFamily="18" charset="0"/>
              </a:rPr>
              <a:t>analyze</a:t>
            </a:r>
            <a:r>
              <a:rPr lang="en-IN" sz="2200" dirty="0">
                <a:effectLst/>
                <a:latin typeface="Times New Roman" panose="02020603050405020304" pitchFamily="18" charset="0"/>
                <a:ea typeface="Times New Roman" panose="02020603050405020304" pitchFamily="18" charset="0"/>
              </a:rPr>
              <a:t> symptoms based on user input and identify potential health concerns, helping users understand their symptoms before consulting a healthcare provider.</a:t>
            </a:r>
          </a:p>
          <a:p>
            <a:pPr marL="342900" lvl="0" indent="-342900">
              <a:buFont typeface="+mj-lt"/>
              <a:buAutoNum type="arabicPeriod"/>
              <a:tabLst>
                <a:tab pos="457200" algn="l"/>
              </a:tabLst>
            </a:pPr>
            <a:r>
              <a:rPr lang="en-IN" sz="2200" b="1" dirty="0">
                <a:effectLst/>
                <a:latin typeface="Times New Roman" panose="02020603050405020304" pitchFamily="18" charset="0"/>
                <a:ea typeface="Times New Roman" panose="02020603050405020304" pitchFamily="18" charset="0"/>
              </a:rPr>
              <a:t>Guide Users to Appropriate Resources and Actions</a:t>
            </a:r>
            <a:r>
              <a:rPr lang="en-IN" sz="2200" dirty="0">
                <a:effectLst/>
                <a:latin typeface="Times New Roman" panose="02020603050405020304" pitchFamily="18" charset="0"/>
                <a:ea typeface="Times New Roman" panose="02020603050405020304" pitchFamily="18" charset="0"/>
              </a:rPr>
              <a:t>: Recommend further actions based on symptom severity, such as visiting a healthcare provider, monitoring symptoms at home, or managing minor symptoms independently.</a:t>
            </a:r>
          </a:p>
          <a:p>
            <a:pPr marL="342900" lvl="0" indent="-342900">
              <a:buFont typeface="+mj-lt"/>
              <a:buAutoNum type="arabicPeriod"/>
              <a:tabLst>
                <a:tab pos="457200" algn="l"/>
              </a:tabLst>
            </a:pPr>
            <a:r>
              <a:rPr lang="en-IN" sz="2200" b="1" dirty="0">
                <a:effectLst/>
                <a:latin typeface="Times New Roman" panose="02020603050405020304" pitchFamily="18" charset="0"/>
                <a:ea typeface="Times New Roman" panose="02020603050405020304" pitchFamily="18" charset="0"/>
              </a:rPr>
              <a:t>Reduce Pressure on Healthcare Systems</a:t>
            </a:r>
            <a:r>
              <a:rPr lang="en-IN" sz="2200" dirty="0">
                <a:effectLst/>
                <a:latin typeface="Times New Roman" panose="02020603050405020304" pitchFamily="18" charset="0"/>
                <a:ea typeface="Times New Roman" panose="02020603050405020304" pitchFamily="18" charset="0"/>
              </a:rPr>
              <a:t>: By handling non-urgent cases and educating users, the chatbot can reduce the volume of patients seeking unnecessary medical consultations, thus freeing up resources for more urgent cases.</a:t>
            </a:r>
          </a:p>
          <a:p>
            <a:pPr marL="342900" lvl="0" indent="-342900">
              <a:buFont typeface="+mj-lt"/>
              <a:buAutoNum type="arabicPeriod"/>
              <a:tabLst>
                <a:tab pos="457200" algn="l"/>
              </a:tabLst>
            </a:pPr>
            <a:r>
              <a:rPr lang="en-IN" sz="2200" b="1" dirty="0">
                <a:effectLst/>
                <a:latin typeface="Times New Roman" panose="02020603050405020304" pitchFamily="18" charset="0"/>
                <a:ea typeface="Times New Roman" panose="02020603050405020304" pitchFamily="18" charset="0"/>
              </a:rPr>
              <a:t>Enhance Patient Education and Empowerment</a:t>
            </a:r>
            <a:r>
              <a:rPr lang="en-IN" sz="2200" dirty="0">
                <a:effectLst/>
                <a:latin typeface="Times New Roman" panose="02020603050405020304" pitchFamily="18" charset="0"/>
                <a:ea typeface="Times New Roman" panose="02020603050405020304" pitchFamily="18" charset="0"/>
              </a:rPr>
              <a:t>: Help users become more informed about their symptoms and potential conditions, promoting health literacy and encouraging proactive healthcare management.</a:t>
            </a:r>
          </a:p>
          <a:p>
            <a:pPr>
              <a:lnSpc>
                <a:spcPct val="115000"/>
              </a:lnSpc>
              <a:spcAft>
                <a:spcPts val="10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259A8AB-AF0C-4C0E-A422-E318E3F11F59}"/>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5122" name="Picture 2" descr="The Pros and Cons of Healthcare Chatbo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0" y="808383"/>
            <a:ext cx="3838575" cy="4697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957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arn(inVertical)">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29F6290B-006D-3636-9A30-52B68ADFEE81}"/>
              </a:ext>
            </a:extLst>
          </p:cNvPr>
          <p:cNvSpPr txBox="1">
            <a:spLocks/>
          </p:cNvSpPr>
          <p:nvPr/>
        </p:nvSpPr>
        <p:spPr>
          <a:xfrm>
            <a:off x="1066800" y="355600"/>
            <a:ext cx="10744200" cy="785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4400" dirty="0">
                <a:latin typeface="Times New Roman" panose="02020603050405020304" pitchFamily="18" charset="0"/>
                <a:ea typeface="Calibri" panose="020F0502020204030204" pitchFamily="34" charset="0"/>
                <a:cs typeface="Times New Roman" panose="02020603050405020304" pitchFamily="18" charset="0"/>
              </a:rPr>
              <a:t>Scope</a:t>
            </a:r>
            <a:r>
              <a:rPr lang="en-IN" sz="3200" kern="1200" dirty="0">
                <a:solidFill>
                  <a:schemeClr val="dk1"/>
                </a:solidFill>
                <a:effectLst/>
                <a:latin typeface="Times New Roman" panose="02020603050405020304" pitchFamily="18" charset="0"/>
                <a:ea typeface="+mn-ea"/>
                <a:cs typeface="Times New Roman" panose="02020603050405020304" pitchFamily="18" charset="0"/>
              </a:rPr>
              <a:t> </a:t>
            </a:r>
          </a:p>
          <a:p>
            <a:pPr marL="0" indent="0">
              <a:buNone/>
            </a:pPr>
            <a:endParaRPr lang="en-IN" sz="3200" b="1" strike="sngStrike" dirty="0">
              <a:highlight>
                <a:srgbClr val="FFFF00"/>
              </a:highlight>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B3C3E0A-C889-96CE-36AD-D70552005C65}"/>
              </a:ext>
            </a:extLst>
          </p:cNvPr>
          <p:cNvSpPr>
            <a:spLocks noGrp="1"/>
          </p:cNvSpPr>
          <p:nvPr>
            <p:ph idx="1"/>
          </p:nvPr>
        </p:nvSpPr>
        <p:spPr>
          <a:xfrm>
            <a:off x="0" y="1723533"/>
            <a:ext cx="7049729" cy="2717370"/>
          </a:xfrm>
        </p:spPr>
        <p:txBody>
          <a:bodyPr>
            <a:noAutofit/>
          </a:bodyPr>
          <a:lstStyle/>
          <a:p>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The intelligent healthcare chatbot for symptom analysis and preliminary diagnosis will focus on providing accessible, reliable, and user-friendly assistance to individuals seeking initial guidance on health concerns. This project will encompass various functionalities and limitations designed to create a safe, ethical, and effective tool for users. The scope of the chatbot's capabilities, as well as its constraints, is defined as follows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The chatbot will assist users by interpreting symptom descriptions and identifying key symptoms through Natural Language Processing (NLP).</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It will employ symptom-checking algorithms that cross-reference user inputs with a database of common symptoms and conditions, considering user demographics (e.g., age, gender) when relevant.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200" dirty="0">
              <a:highlight>
                <a:srgbClr val="FFFF00"/>
              </a:highlight>
              <a:latin typeface="Times New Roman" panose="02020603050405020304" pitchFamily="18" charset="0"/>
              <a:cs typeface="Times New Roman" panose="02020603050405020304" pitchFamily="18" charset="0"/>
            </a:endParaRPr>
          </a:p>
        </p:txBody>
      </p:sp>
      <p:pic>
        <p:nvPicPr>
          <p:cNvPr id="7170" name="Picture 2" descr="Chatbot for Healthcare: Key Use Cases &amp; Benefit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06812" y="1723533"/>
            <a:ext cx="3454401" cy="3759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5384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fade">
                                      <p:cBhvr>
                                        <p:cTn id="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C8E016-4EAB-49D4-8812-4CD07BD8B6D4}"/>
              </a:ext>
            </a:extLst>
          </p:cNvPr>
          <p:cNvSpPr>
            <a:spLocks noGrp="1"/>
          </p:cNvSpPr>
          <p:nvPr>
            <p:ph idx="1"/>
          </p:nvPr>
        </p:nvSpPr>
        <p:spPr>
          <a:xfrm>
            <a:off x="838200" y="649357"/>
            <a:ext cx="6291470" cy="5527606"/>
          </a:xfrm>
        </p:spPr>
        <p:txBody>
          <a:bodyPr>
            <a:normAutofit fontScale="92500" lnSpcReduction="20000"/>
          </a:bodyPr>
          <a:lstStyle/>
          <a:p>
            <a:pPr marL="0" indent="0">
              <a:lnSpc>
                <a:spcPct val="115000"/>
              </a:lnSpc>
              <a:spcAft>
                <a:spcPts val="1000"/>
              </a:spcAft>
              <a:buNone/>
            </a:pP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Based on the symptom analysis, the chatbot will provide actionable guidance, such as suggesting a medical consultation, self-care tips, or emergency advice in severe cases.</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It will offer educational resources on conditions, self-care practices, and preventive measures, allowing users to take an informed approach to managing their health.</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The chatbot will connect users to nearby healthcare resources if desired, including links to telemedicine services, emergency contact information, or local clinic</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900" dirty="0">
                <a:effectLst/>
                <a:latin typeface="Times New Roman" panose="02020603050405020304" pitchFamily="18" charset="0"/>
                <a:ea typeface="Times New Roman" panose="02020603050405020304" pitchFamily="18" charset="0"/>
                <a:cs typeface="Times New Roman" panose="02020603050405020304" pitchFamily="18" charset="0"/>
              </a:rPr>
              <a:t>The chatbot will follow strict data privacy and security protocols to protect user information, including anonymizing data and ensuring that health information is securely encrypted.</a:t>
            </a: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15000"/>
              </a:lnSpc>
              <a:spcAft>
                <a:spcPts val="1000"/>
              </a:spcAft>
              <a:buSzPts val="1000"/>
              <a:buNone/>
              <a:tabLst>
                <a:tab pos="457200" algn="l"/>
              </a:tabLst>
            </a:pPr>
            <a:endParaRPr lang="en-IN" sz="19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AE5EC410-7BA3-47C9-82AB-C11FD2C4FEBD}"/>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8194" name="Picture 2" descr="Chatbots in Healthcare [10 Use Cases] + Development Gui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9151" y="1205948"/>
            <a:ext cx="3844649" cy="3823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9694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circle(in)">
                                      <p:cBhvr>
                                        <p:cTn id="7" dur="20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E71A8F-B77B-489D-9D0F-9339AE18244B}"/>
              </a:ext>
            </a:extLst>
          </p:cNvPr>
          <p:cNvSpPr>
            <a:spLocks noGrp="1"/>
          </p:cNvSpPr>
          <p:nvPr>
            <p:ph idx="1"/>
          </p:nvPr>
        </p:nvSpPr>
        <p:spPr>
          <a:xfrm>
            <a:off x="400878" y="1565551"/>
            <a:ext cx="6013174" cy="5963478"/>
          </a:xfrm>
        </p:spPr>
        <p:txBody>
          <a:bodyPr>
            <a:noAutofit/>
          </a:bodyPr>
          <a:lstStyle/>
          <a:p>
            <a:pPr marL="0" indent="0">
              <a:lnSpc>
                <a:spcPct val="115000"/>
              </a:lnSpc>
              <a:spcAft>
                <a:spcPts val="1000"/>
              </a:spcAft>
              <a:buNone/>
            </a:pPr>
            <a:r>
              <a:rPr lang="en-IN" sz="1500" b="1" dirty="0">
                <a:effectLst/>
                <a:latin typeface="Times New Roman" panose="02020603050405020304" pitchFamily="18" charset="0"/>
                <a:ea typeface="Times New Roman" panose="02020603050405020304" pitchFamily="18" charset="0"/>
                <a:cs typeface="Times New Roman" panose="02020603050405020304" pitchFamily="18" charset="0"/>
              </a:rPr>
              <a:t>5. </a:t>
            </a:r>
            <a:r>
              <a:rPr lang="en-IN" sz="1800" b="1" dirty="0">
                <a:effectLst/>
                <a:latin typeface="Times New Roman" panose="02020603050405020304" pitchFamily="18" charset="0"/>
                <a:ea typeface="Times New Roman" panose="02020603050405020304" pitchFamily="18" charset="0"/>
                <a:cs typeface="Times New Roman" panose="02020603050405020304" pitchFamily="18" charset="0"/>
              </a:rPr>
              <a:t>Limitations and Ethical Considerations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 chatbot will be limited to offering symptom analysis and preliminary diagnosis for general health conditions, with strict disclaimers about its limitations in accuracy and its non-substitutive role to professional healthcare.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The chatbot will not handle emergencies or life-threatening conditions, and users reporting such symptoms will receive clear instructions to seek immediate professional medical assistance.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SzPts val="1000"/>
              <a:buFont typeface="Symbol" panose="05050102010706020507" pitchFamily="18" charset="2"/>
              <a:buChar char=""/>
              <a:tabLst>
                <a:tab pos="457200" algn="l"/>
              </a:tabLs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Ethical considerations will be embedded within its design, including transparency around data use and the chatbot's limitations, to ensure that users understand the bot’s role and scope of assistance</a:t>
            </a:r>
            <a:r>
              <a:rPr lang="en-IN" sz="15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15000"/>
              </a:lnSpc>
              <a:spcAft>
                <a:spcPts val="1000"/>
              </a:spcAft>
              <a:buSzPts val="1000"/>
              <a:buNone/>
              <a:tabLst>
                <a:tab pos="457200" algn="l"/>
              </a:tabLst>
            </a:pP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500" dirty="0"/>
          </a:p>
        </p:txBody>
      </p:sp>
      <p:sp>
        <p:nvSpPr>
          <p:cNvPr id="4" name="Slide Number Placeholder 3">
            <a:extLst>
              <a:ext uri="{FF2B5EF4-FFF2-40B4-BE49-F238E27FC236}">
                <a16:creationId xmlns:a16="http://schemas.microsoft.com/office/drawing/2014/main" id="{3C2839A0-8FD1-4873-863B-00DD4F76E1B9}"/>
              </a:ext>
            </a:extLst>
          </p:cNvPr>
          <p:cNvSpPr>
            <a:spLocks noGrp="1"/>
          </p:cNvSpPr>
          <p:nvPr>
            <p:ph type="sldNum" sz="quarter" idx="12"/>
          </p:nvPr>
        </p:nvSpPr>
        <p:spPr/>
        <p:txBody>
          <a:bodyPr/>
          <a:lstStyle/>
          <a:p>
            <a:fld id="{BDCDBBEF-AA6C-4BA6-85B2-A17D7F280E38}" type="slidenum">
              <a:rPr lang="en-US" smtClean="0"/>
              <a:pPr/>
              <a:t>11</a:t>
            </a:fld>
            <a:endParaRPr lang="en-US"/>
          </a:p>
        </p:txBody>
      </p:sp>
      <p:pic>
        <p:nvPicPr>
          <p:cNvPr id="9220" name="Picture 4" descr="How chatbots in healthcare are transforming the patient exper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2922" y="1262545"/>
            <a:ext cx="4384744" cy="3972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303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DF80D-327C-0AD9-814C-F36923C4BB14}"/>
              </a:ext>
            </a:extLst>
          </p:cNvPr>
          <p:cNvSpPr>
            <a:spLocks noGrp="1"/>
          </p:cNvSpPr>
          <p:nvPr>
            <p:ph type="title"/>
          </p:nvPr>
        </p:nvSpPr>
        <p:spPr/>
        <p:txBody>
          <a:bodyPr/>
          <a:lstStyle/>
          <a:p>
            <a:r>
              <a:rPr lang="en-IN" dirty="0">
                <a:latin typeface="Times New Roman" panose="02020603050405020304" pitchFamily="18" charset="0"/>
                <a:ea typeface="Calibri" panose="020F0502020204030204" pitchFamily="34" charset="0"/>
                <a:cs typeface="Times New Roman" panose="02020603050405020304" pitchFamily="18" charset="0"/>
              </a:rPr>
              <a:t>Methodology</a:t>
            </a:r>
            <a:br>
              <a:rPr lang="en-IN" sz="4000" dirty="0">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11D4D116-68F0-9C19-4AB9-0343E17D5B03}"/>
              </a:ext>
            </a:extLst>
          </p:cNvPr>
          <p:cNvSpPr>
            <a:spLocks noGrp="1"/>
          </p:cNvSpPr>
          <p:nvPr>
            <p:ph idx="1"/>
          </p:nvPr>
        </p:nvSpPr>
        <p:spPr>
          <a:xfrm>
            <a:off x="838200" y="1825625"/>
            <a:ext cx="6742043" cy="4351338"/>
          </a:xfrm>
        </p:spPr>
        <p:txBody>
          <a:bodyPr>
            <a:normAutofit fontScale="85000" lnSpcReduction="10000"/>
          </a:bodyPr>
          <a:lstStyle/>
          <a:p>
            <a:r>
              <a:rPr lang="en-IN" sz="3200" dirty="0">
                <a:effectLst/>
                <a:latin typeface="Times New Roman" panose="02020603050405020304" pitchFamily="18" charset="0"/>
                <a:ea typeface="Calibri" panose="020F0502020204030204" pitchFamily="34" charset="0"/>
                <a:cs typeface="Times New Roman" panose="02020603050405020304" pitchFamily="18" charset="0"/>
              </a:rPr>
              <a:t>The development of an intelligent healthcare chatbot for symptom analysis and preliminary diagnosis involves a structured approach, combining natural language processing (NLP), machine learning (ML), and a robust backend system. This methodology is divided into several stages, each designed to ensure that the chatbot is accurate, user-friendly, and ethically responsible. Key stages in the methodology include data collection, model development, NLP implementation, user interface design, and evaluation</a:t>
            </a:r>
            <a:endParaRPr lang="en-IN" sz="3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9384446-34D6-EABE-3BC9-E0FF30676F4B}"/>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7170" name="Picture 2" descr="Top 10 Best Chatbots in HealthCare for 2024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0243" y="1484243"/>
            <a:ext cx="4334151" cy="43142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94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ea typeface="Calibri" panose="020F0502020204030204" pitchFamily="34" charset="0"/>
                <a:cs typeface="Times New Roman" panose="02020603050405020304" pitchFamily="18" charset="0"/>
              </a:rPr>
              <a:t>Results and Discussions</a:t>
            </a:r>
            <a:br>
              <a:rPr lang="en-IN" sz="4000" dirty="0">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p:cNvSpPr>
            <a:spLocks noGrp="1"/>
          </p:cNvSpPr>
          <p:nvPr>
            <p:ph idx="1"/>
          </p:nvPr>
        </p:nvSpPr>
        <p:spPr>
          <a:xfrm>
            <a:off x="838200" y="1825625"/>
            <a:ext cx="5575852" cy="4351338"/>
          </a:xfrm>
        </p:spPr>
        <p:txBody>
          <a:bodyPr>
            <a:normAutofit fontScale="77500" lnSpcReduction="20000"/>
          </a:bodyPr>
          <a:lstStyle/>
          <a:p>
            <a:r>
              <a:rPr lang="en-IN" sz="3600" dirty="0">
                <a:effectLst/>
                <a:latin typeface="Times New Roman" panose="02020603050405020304" pitchFamily="18" charset="0"/>
                <a:ea typeface="Times New Roman" panose="02020603050405020304" pitchFamily="18" charset="0"/>
              </a:rPr>
              <a:t>The development and deployment of the intelligent healthcare chatbot yielded insights into its accuracy, user experience, and practical effectiveness in symptom analysis and preliminary diagnosis. Below, the results are presented, followed by a discussion of the chatbot's strengths, areas for improvement, and future considerations.</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pic>
        <p:nvPicPr>
          <p:cNvPr id="8194" name="Picture 2" descr="Building an Effective and User-Friendly Medical Chatbot with OpenAI and  CometLLM: A Step-by-Step Guide | by Oluseye Jeremiah | Mediu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4052" y="1391477"/>
            <a:ext cx="5552661" cy="4035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0878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ea typeface="Calibri" panose="020F0502020204030204" pitchFamily="34" charset="0"/>
                <a:cs typeface="Times New Roman" panose="02020603050405020304" pitchFamily="18" charset="0"/>
              </a:rPr>
              <a:t>Conclusion and Future Scope</a:t>
            </a:r>
            <a:endParaRPr lang="en-IN" dirty="0"/>
          </a:p>
        </p:txBody>
      </p:sp>
      <p:sp>
        <p:nvSpPr>
          <p:cNvPr id="3" name="Content Placeholder 2"/>
          <p:cNvSpPr>
            <a:spLocks noGrp="1"/>
          </p:cNvSpPr>
          <p:nvPr>
            <p:ph idx="1"/>
          </p:nvPr>
        </p:nvSpPr>
        <p:spPr>
          <a:xfrm>
            <a:off x="838200" y="1825625"/>
            <a:ext cx="6821557" cy="4351338"/>
          </a:xfrm>
        </p:spPr>
        <p:txBody>
          <a:bodyPr>
            <a:normAutofit lnSpcReduction="10000"/>
          </a:bodyPr>
          <a:lstStyle/>
          <a:p>
            <a:r>
              <a:rPr lang="en-IN" sz="2000" dirty="0">
                <a:effectLst/>
                <a:latin typeface="Times New Roman" panose="02020603050405020304" pitchFamily="18" charset="0"/>
                <a:ea typeface="Times New Roman" panose="02020603050405020304" pitchFamily="18" charset="0"/>
              </a:rPr>
              <a:t>The intelligent healthcare chatbot for symptom analysis and preliminary diagnosis has proven effective in providing accessible, preliminary health guidance and educational resources for common medical conditions.  . Its user-friendly interface, rapid response times, and integration of health education resources have empowered users to make informed decisions about their health, while the chatbot’s adherence to privacy and security standards has helped build user trust.</a:t>
            </a:r>
          </a:p>
          <a:p>
            <a:r>
              <a:rPr lang="en-IN" sz="2000" dirty="0">
                <a:effectLst/>
                <a:latin typeface="Times New Roman" panose="02020603050405020304" pitchFamily="18" charset="0"/>
                <a:ea typeface="Times New Roman" panose="02020603050405020304" pitchFamily="18" charset="0"/>
              </a:rPr>
              <a:t>The chatbot also achieved its goal of helping to alleviate pressure on healthcare systems by offering users a reliable source for initial symptom evaluation. This tool has proven valuable for non-urgent cases, reducing unnecessary clinic visits, and supporting individuals who might not have immediate access to healthcare These challenges highlight areas for further model refinement and expansion of the chatbot’s diagnostic capabilities.</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6" name="AutoShape 4" descr="Chatbots in Healthcare: Benefits, Use Cases &amp; Mo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24" name="Picture 8" descr="Chatbots In Healthcare: How Are They Disrupting The Indust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3741" y="1825625"/>
            <a:ext cx="4147930" cy="3896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1392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ea typeface="Calibri" panose="020F0502020204030204" pitchFamily="34" charset="0"/>
                <a:cs typeface="Times New Roman" panose="02020603050405020304" pitchFamily="18" charset="0"/>
              </a:rPr>
              <a:t>References</a:t>
            </a:r>
            <a:endParaRPr lang="en-IN" dirty="0"/>
          </a:p>
        </p:txBody>
      </p:sp>
      <p:sp>
        <p:nvSpPr>
          <p:cNvPr id="3" name="Content Placeholder 2"/>
          <p:cNvSpPr>
            <a:spLocks noGrp="1"/>
          </p:cNvSpPr>
          <p:nvPr>
            <p:ph idx="1"/>
          </p:nvPr>
        </p:nvSpPr>
        <p:spPr>
          <a:xfrm>
            <a:off x="447261" y="1690688"/>
            <a:ext cx="6258339" cy="4351338"/>
          </a:xfrm>
        </p:spPr>
        <p:txBody>
          <a:bodyPr>
            <a:normAutofit lnSpcReduction="10000"/>
          </a:bodyPr>
          <a:lstStyle/>
          <a:p>
            <a:pPr marL="457200">
              <a:lnSpc>
                <a:spcPct val="115000"/>
              </a:lnSpc>
            </a:pPr>
            <a:r>
              <a:rPr lang="en-IN" sz="1800" b="1" dirty="0">
                <a:effectLst/>
                <a:latin typeface="Calibri" panose="020F0502020204030204" pitchFamily="34" charset="0"/>
                <a:ea typeface="Calibri" panose="020F0502020204030204" pitchFamily="34" charset="0"/>
                <a:cs typeface="Times New Roman" panose="02020603050405020304" pitchFamily="18" charset="0"/>
              </a:rPr>
              <a:t>Cohen, G., Murphy, E., &amp; Mansfield, S.</a:t>
            </a:r>
            <a:r>
              <a:rPr lang="en-IN" sz="1800" dirty="0">
                <a:effectLst/>
                <a:latin typeface="Calibri" panose="020F0502020204030204" pitchFamily="34" charset="0"/>
                <a:ea typeface="Calibri" panose="020F0502020204030204" pitchFamily="34" charset="0"/>
                <a:cs typeface="Times New Roman" panose="02020603050405020304" pitchFamily="18" charset="0"/>
              </a:rPr>
              <a:t> (2022). </a:t>
            </a:r>
            <a:r>
              <a:rPr lang="en-IN" sz="1800" i="1" dirty="0">
                <a:effectLst/>
                <a:latin typeface="Calibri" panose="020F0502020204030204" pitchFamily="34" charset="0"/>
                <a:ea typeface="Calibri" panose="020F0502020204030204" pitchFamily="34" charset="0"/>
                <a:cs typeface="Times New Roman" panose="02020603050405020304" pitchFamily="18" charset="0"/>
              </a:rPr>
              <a:t>Artificial Intelligence and Machine Learning in Healthcare: Applications and Challenges.</a:t>
            </a:r>
            <a:r>
              <a:rPr lang="en-IN" sz="1800" dirty="0">
                <a:effectLst/>
                <a:latin typeface="Calibri" panose="020F0502020204030204" pitchFamily="34" charset="0"/>
                <a:ea typeface="Calibri" panose="020F0502020204030204" pitchFamily="34" charset="0"/>
                <a:cs typeface="Times New Roman" panose="02020603050405020304" pitchFamily="18" charset="0"/>
              </a:rPr>
              <a:t> Journal of Healthcare Informatics, 14(3), 200-218.</a:t>
            </a:r>
          </a:p>
          <a:p>
            <a:pPr marL="457200">
              <a:lnSpc>
                <a:spcPct val="115000"/>
              </a:lnSpc>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pPr>
            <a:r>
              <a:rPr lang="en-IN" sz="1800" b="1" dirty="0" err="1">
                <a:effectLst/>
                <a:latin typeface="Calibri" panose="020F0502020204030204" pitchFamily="34" charset="0"/>
                <a:ea typeface="Calibri" panose="020F0502020204030204" pitchFamily="34" charset="0"/>
                <a:cs typeface="Times New Roman" panose="02020603050405020304" pitchFamily="18" charset="0"/>
              </a:rPr>
              <a:t>Topol</a:t>
            </a:r>
            <a:r>
              <a:rPr lang="en-IN" sz="1800" b="1" dirty="0">
                <a:effectLst/>
                <a:latin typeface="Calibri" panose="020F0502020204030204" pitchFamily="34" charset="0"/>
                <a:ea typeface="Calibri" panose="020F0502020204030204" pitchFamily="34" charset="0"/>
                <a:cs typeface="Times New Roman" panose="02020603050405020304" pitchFamily="18" charset="0"/>
              </a:rPr>
              <a:t>, E.</a:t>
            </a:r>
            <a:r>
              <a:rPr lang="en-IN" sz="1800" dirty="0">
                <a:effectLst/>
                <a:latin typeface="Calibri" panose="020F0502020204030204" pitchFamily="34" charset="0"/>
                <a:ea typeface="Calibri" panose="020F0502020204030204" pitchFamily="34" charset="0"/>
                <a:cs typeface="Times New Roman" panose="02020603050405020304" pitchFamily="18" charset="0"/>
              </a:rPr>
              <a:t> (2019). </a:t>
            </a:r>
            <a:r>
              <a:rPr lang="en-IN" sz="1800" i="1" dirty="0">
                <a:effectLst/>
                <a:latin typeface="Calibri" panose="020F0502020204030204" pitchFamily="34" charset="0"/>
                <a:ea typeface="Calibri" panose="020F0502020204030204" pitchFamily="34" charset="0"/>
                <a:cs typeface="Times New Roman" panose="02020603050405020304" pitchFamily="18" charset="0"/>
              </a:rPr>
              <a:t>Deep Medicine: How Artificial Intelligence Can Make Healthcare Human Again.</a:t>
            </a:r>
            <a:r>
              <a:rPr lang="en-IN" sz="1800" dirty="0">
                <a:effectLst/>
                <a:latin typeface="Calibri" panose="020F0502020204030204" pitchFamily="34" charset="0"/>
                <a:ea typeface="Calibri" panose="020F0502020204030204" pitchFamily="34" charset="0"/>
                <a:cs typeface="Times New Roman" panose="02020603050405020304" pitchFamily="18" charset="0"/>
              </a:rPr>
              <a:t> Basic Books.</a:t>
            </a:r>
          </a:p>
          <a:p>
            <a:pPr indent="0">
              <a:lnSpc>
                <a:spcPct val="115000"/>
              </a:lnSpc>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10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World Health Organization (WHO).</a:t>
            </a:r>
            <a:r>
              <a:rPr lang="en-IN" sz="1800" dirty="0">
                <a:effectLst/>
                <a:latin typeface="Calibri" panose="020F0502020204030204" pitchFamily="34" charset="0"/>
                <a:ea typeface="Calibri" panose="020F0502020204030204" pitchFamily="34" charset="0"/>
                <a:cs typeface="Times New Roman" panose="02020603050405020304" pitchFamily="18" charset="0"/>
              </a:rPr>
              <a:t> (2021). </a:t>
            </a:r>
            <a:r>
              <a:rPr lang="en-IN" sz="1800" i="1" dirty="0">
                <a:effectLst/>
                <a:latin typeface="Calibri" panose="020F0502020204030204" pitchFamily="34" charset="0"/>
                <a:ea typeface="Calibri" panose="020F0502020204030204" pitchFamily="34" charset="0"/>
                <a:cs typeface="Times New Roman" panose="02020603050405020304" pitchFamily="18" charset="0"/>
              </a:rPr>
              <a:t>Ethics and Governance of Artificial Intelligence for Health.</a:t>
            </a:r>
            <a:r>
              <a:rPr lang="en-IN" sz="1800" dirty="0">
                <a:effectLst/>
                <a:latin typeface="Calibri" panose="020F0502020204030204" pitchFamily="34" charset="0"/>
                <a:ea typeface="Calibri" panose="020F0502020204030204" pitchFamily="34" charset="0"/>
                <a:cs typeface="Times New Roman" panose="02020603050405020304" pitchFamily="18" charset="0"/>
              </a:rPr>
              <a:t> World Health Organization. Available at: </a:t>
            </a:r>
            <a:r>
              <a:rPr lang="en-IN" sz="18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rPr>
              <a:t>https://www.who.int/publications/i/item/9789240029200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pic>
        <p:nvPicPr>
          <p:cNvPr id="10242" name="Picture 2" descr="How to Use AI Chatbots for Healthcare- 17 Best Practic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7035" y="1828800"/>
            <a:ext cx="4347936" cy="3292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330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1"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a:t>
            </a: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 </a:t>
            </a:r>
            <a:r>
              <a:rPr kumimoji="0" lang="en-US" sz="8000" b="1"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184731" cy="369332"/>
          </a:xfrm>
          <a:prstGeom prst="rect">
            <a:avLst/>
          </a:prstGeom>
        </p:spPr>
        <p:txBody>
          <a:bodyPr wrap="none">
            <a:spAutoFit/>
          </a:bodyPr>
          <a:lstStyle/>
          <a:p>
            <a:endParaRPr lang="en-US" dirty="0"/>
          </a:p>
        </p:txBody>
      </p:sp>
    </p:spTree>
    <p:extLst>
      <p:ext uri="{BB962C8B-B14F-4D97-AF65-F5344CB8AC3E}">
        <p14:creationId xmlns:p14="http://schemas.microsoft.com/office/powerpoint/2010/main" val="265650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2158</TotalTime>
  <Words>1486</Words>
  <Application>Microsoft Office PowerPoint</Application>
  <PresentationFormat>Widescreen</PresentationFormat>
  <Paragraphs>99</Paragraphs>
  <Slides>16</Slides>
  <Notes>3</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5" baseType="lpstr">
      <vt:lpstr>Arial</vt:lpstr>
      <vt:lpstr>Calibri</vt:lpstr>
      <vt:lpstr>Calibri Light</vt:lpstr>
      <vt:lpstr>Casper</vt:lpstr>
      <vt:lpstr>Symbol</vt:lpstr>
      <vt:lpstr>Times New Roman</vt:lpstr>
      <vt:lpstr>1_Office Theme</vt:lpstr>
      <vt:lpstr>Contents Slide Master</vt:lpstr>
      <vt:lpstr>CorelDRAW</vt:lpstr>
      <vt:lpstr>PowerPoint Presentation</vt:lpstr>
      <vt:lpstr>Outlines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Methodology </vt:lpstr>
      <vt:lpstr>Results and Discussions </vt:lpstr>
      <vt:lpstr>Conclusion and 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jatin verma</cp:lastModifiedBy>
  <cp:revision>232</cp:revision>
  <dcterms:created xsi:type="dcterms:W3CDTF">2019-01-09T10:33:58Z</dcterms:created>
  <dcterms:modified xsi:type="dcterms:W3CDTF">2025-03-06T17:42:12Z</dcterms:modified>
</cp:coreProperties>
</file>